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🌾  AgriProof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0B981"/>
                </a:solidFill>
                <a:latin typeface="Calibri"/>
              </a:defRPr>
            </a:pPr>
            <a:r>
              <a:t>Satellite-Verified Crop Risk &amp; Privacy-Preserving Insurance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with Zero-Knowledge Proofs (zk-SNARKs)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FastAPI  •  React + Tailwind  •  Circom/SnarkJS  •  XGBoost  •  Sentinel-2  •  Open-Meteo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Calibri"/>
              </a:defRPr>
            </a:pPr>
            <a:r>
              <a:t>Working Flow Presentation — Team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SW-04  |  August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🚨  The Problem We're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BBF24"/>
                </a:solidFill>
                <a:latin typeface="Calibri"/>
              </a:defRPr>
            </a:pPr>
            <a:r>
              <a:t>Traditional agricultural insurance is broken — slow, manual, fraud-prone, and privacy-invasive.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560320" cy="34747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F4444"/>
                </a:solidFill>
                <a:latin typeface="Calibri"/>
              </a:defRPr>
            </a:pPr>
            <a:r>
              <a:t>⏱️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Slow Claims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Manual field assessments take weeks.</a:t>
            </a:r>
            <a:br/>
            <a:r>
              <a:t>Farmers wait months for payouts.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28800"/>
            <a:ext cx="2560320" cy="34747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F4444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Verification Friction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2004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Physical inspectors visit every farm.</a:t>
            </a:r>
            <a:br/>
            <a:r>
              <a:t>Subjective &amp; inconsistent assessments.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560320" cy="34747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F4444"/>
                </a:solidFill>
                <a:latin typeface="Calibri"/>
              </a:defRPr>
            </a:pPr>
            <a:r>
              <a:t>🕵️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Fraud Vulnerability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No verifiable satellite evidence.</a:t>
            </a:r>
            <a:br/>
            <a:r>
              <a:t>Easy to manipulate manual reports.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828800"/>
            <a:ext cx="2560320" cy="34747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103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F4444"/>
                </a:solidFill>
                <a:latin typeface="Calibri"/>
              </a:defRPr>
            </a:pPr>
            <a:r>
              <a:t>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Privacy Exposure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2004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Farmers must reveal exact GPS,</a:t>
            </a:r>
            <a:br/>
            <a:r>
              <a:t>yield history, &amp; financial details.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💡  AgriProof AI eliminates ALL of these with satellite intelligence + zero-knowledge proofs.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✅  Our Solution — AgriProof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51760" cy="3200400"/>
          </a:xfrm>
          <a:prstGeom prst="roundRect">
            <a:avLst/>
          </a:prstGeom>
          <a:solidFill>
            <a:srgbClr val="1A24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38BDF8"/>
                </a:solidFill>
                <a:latin typeface="Calibri"/>
              </a:defRPr>
            </a:pPr>
            <a:r>
              <a:t>🛰️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Sentinel-2 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Multi-spectral satellite</a:t>
            </a:r>
            <a:br/>
            <a:r>
              <a:t>imagery (NDVI, EVI,</a:t>
            </a:r>
            <a:br/>
            <a:r>
              <a:t>NDWI, NDMI)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71600"/>
            <a:ext cx="2651760" cy="3200400"/>
          </a:xfrm>
          <a:prstGeom prst="roundRect">
            <a:avLst/>
          </a:prstGeom>
          <a:solidFill>
            <a:srgbClr val="1A24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BBF24"/>
                </a:solidFill>
                <a:latin typeface="Calibri"/>
              </a:defRPr>
            </a:pPr>
            <a:r>
              <a:t>🌦️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Weather Intel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9260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Open-Meteo historical &amp;</a:t>
            </a:r>
            <a:br/>
            <a:r>
              <a:t>forecast anomaly</a:t>
            </a:r>
            <a:br/>
            <a:r>
              <a:t>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651760" cy="3200400"/>
          </a:xfrm>
          <a:prstGeom prst="roundRect">
            <a:avLst/>
          </a:prstGeom>
          <a:solidFill>
            <a:srgbClr val="1A24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10B981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XGBoost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260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ML yield prediction &amp;</a:t>
            </a:r>
            <a:br/>
            <a:r>
              <a:t>damage classification</a:t>
            </a:r>
            <a:br/>
            <a:r>
              <a:t>risk scoring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371600"/>
            <a:ext cx="2651760" cy="3200400"/>
          </a:xfrm>
          <a:prstGeom prst="roundRect">
            <a:avLst/>
          </a:prstGeom>
          <a:solidFill>
            <a:srgbClr val="1A243B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A78BFA"/>
                </a:solidFill>
                <a:latin typeface="Calibri"/>
              </a:defRPr>
            </a:pPr>
            <a:r>
              <a:t>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zk-SNARKs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9260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Calibri"/>
              </a:defRPr>
            </a:pPr>
            <a:r>
              <a:t>Circom + SnarkJS</a:t>
            </a:r>
            <a:br/>
            <a:r>
              <a:t>Groth16 privacy-</a:t>
            </a:r>
            <a:br/>
            <a:r>
              <a:t>preserving proofs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937760"/>
            <a:ext cx="11247120" cy="137160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🏆  Core Innovation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5778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A farmer cryptographically proves their farm meets all insurance payout conditions (NDVI drop &gt; 30%, rainfall anomaly &gt; 40%, yield loss &gt; 25%) WITHOUT revealing their exact farm location, identity, or private metrics.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🏛️  High-Level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188720"/>
            <a:ext cx="3931920" cy="822960"/>
          </a:xfrm>
          <a:prstGeom prst="roundRect">
            <a:avLst/>
          </a:prstGeom>
          <a:solidFill>
            <a:srgbClr val="1A24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0" y="12801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👨‍🌾  FARMER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6002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Draws polygon, registers farm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286000"/>
            <a:ext cx="3931920" cy="822960"/>
          </a:xfrm>
          <a:prstGeom prst="roundRect">
            <a:avLst/>
          </a:prstGeom>
          <a:solidFill>
            <a:srgbClr val="1A24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23774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⚛️  React + Tailwind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6974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Leaflet map, dashboard, claim pages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3383280"/>
            <a:ext cx="3931920" cy="822960"/>
          </a:xfrm>
          <a:prstGeom prst="roundRect">
            <a:avLst/>
          </a:prstGeom>
          <a:solidFill>
            <a:srgbClr val="1A24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34747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⚡  FastAPI Orchestrator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7947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REST API + WebSocket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572000"/>
            <a:ext cx="2194560" cy="18288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7091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🛰️ Sentinel-2</a:t>
            </a:r>
            <a:br/>
            <a:r>
              <a:t>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577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eo-learn +</a:t>
            </a:r>
            <a:br/>
            <a:r>
              <a:t>s2cloudless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4572000"/>
            <a:ext cx="2194560" cy="18288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47091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🌤️ Open-Meteo</a:t>
            </a:r>
            <a:br/>
            <a:r>
              <a:t>Intel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5577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Historical +</a:t>
            </a:r>
            <a:br/>
            <a:r>
              <a:t>Forecast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0" y="4572000"/>
            <a:ext cx="2194560" cy="18288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47091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🤖 AI/ML Risk</a:t>
            </a:r>
            <a:br/>
            <a:r>
              <a:t>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5577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XGBoost +</a:t>
            </a:r>
            <a:br/>
            <a:r>
              <a:t>Damage Det.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4572000"/>
            <a:ext cx="2194560" cy="18288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7091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🔐 ZK Core</a:t>
            </a:r>
            <a:br/>
            <a:r>
              <a:t>(Circom)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577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Groth16</a:t>
            </a:r>
            <a:br/>
            <a:r>
              <a:t>zk-SNARK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49840" y="4572000"/>
            <a:ext cx="2194560" cy="18288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0" y="47091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📦 Claim</a:t>
            </a:r>
            <a:br/>
            <a:r>
              <a:t>Ledger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5577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SHA-256</a:t>
            </a:r>
            <a:br/>
            <a:r>
              <a:t>Hash Chain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5943600" y="2011680"/>
            <a:ext cx="320040" cy="27432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wn Arrow 28"/>
          <p:cNvSpPr/>
          <p:nvPr/>
        </p:nvSpPr>
        <p:spPr>
          <a:xfrm>
            <a:off x="5943600" y="3108960"/>
            <a:ext cx="320040" cy="27432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own Arrow 29"/>
          <p:cNvSpPr/>
          <p:nvPr/>
        </p:nvSpPr>
        <p:spPr>
          <a:xfrm>
            <a:off x="5943600" y="4206240"/>
            <a:ext cx="320040" cy="36576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🧰 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2697480" cy="48463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React 18 + TypeScript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39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Vite build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1089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Tailwind CSS styling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6118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Leaflet.js map (polygon draw)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1148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Zustand state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6177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Recharts data visualization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280160"/>
            <a:ext cx="2697480" cy="48463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46304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031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FastAPI (Python 3.10+)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606039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SQLAlchemy async 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1089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WebSocket real-time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6118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Uvicorn ASGI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41148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SQLite database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280160"/>
            <a:ext cx="2697480" cy="48463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46304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BBF24"/>
                </a:solidFill>
                <a:latin typeface="Calibri"/>
              </a:defRPr>
            </a:pPr>
            <a:r>
              <a:t>AI /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1031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XGBoost yield predictor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606039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Damage classifier (scikit-learn)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1089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NDVI/EVI/NDWI/NDMI indices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6118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Composite risk scoring (0-100)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1148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Open-Meteo weather integration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1280160"/>
            <a:ext cx="2697480" cy="48463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146304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78BFA"/>
                </a:solidFill>
                <a:latin typeface="Calibri"/>
              </a:defRPr>
            </a:pPr>
            <a:r>
              <a:t>ZK / Crypto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1031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Circom 2.0 circuit compiler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2606039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SnarkJS (Groth16 prover)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31089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BN128 elliptic curve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36118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SHA-256 tamper-proof ledger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41148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▸  Privacy-preserving commitments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👨‍🌾  User Flow — Farmer Journey</a:t>
            </a:r>
          </a:p>
        </p:txBody>
      </p:sp>
      <p:sp>
        <p:nvSpPr>
          <p:cNvPr id="4" name="Oval 3"/>
          <p:cNvSpPr/>
          <p:nvPr/>
        </p:nvSpPr>
        <p:spPr>
          <a:xfrm>
            <a:off x="1005840" y="137160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1645920"/>
            <a:ext cx="1783080" cy="36576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2286000"/>
            <a:ext cx="2103120" cy="34747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Register Farm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0175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Draw polygon on</a:t>
            </a:r>
            <a:br/>
            <a:r>
              <a:t>Leaflet map.</a:t>
            </a:r>
            <a:br/>
            <a:r>
              <a:t>Enter crop type,</a:t>
            </a:r>
            <a:br/>
            <a:r>
              <a:t>sowing date.</a:t>
            </a:r>
          </a:p>
        </p:txBody>
      </p:sp>
      <p:sp>
        <p:nvSpPr>
          <p:cNvPr id="9" name="Oval 8"/>
          <p:cNvSpPr/>
          <p:nvPr/>
        </p:nvSpPr>
        <p:spPr>
          <a:xfrm>
            <a:off x="3383280" y="1371600"/>
            <a:ext cx="640080" cy="6400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645920"/>
            <a:ext cx="1783080" cy="36576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51760" y="2286000"/>
            <a:ext cx="2103120" cy="34747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Run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0175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Click 'Analyze'.</a:t>
            </a:r>
            <a:br/>
            <a:r>
              <a:t>7-stage satellite</a:t>
            </a:r>
            <a:br/>
            <a:r>
              <a:t>pipeline runs</a:t>
            </a:r>
            <a:br/>
            <a:r>
              <a:t>via WebSocket.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0" y="1371600"/>
            <a:ext cx="640080" cy="6400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645920"/>
            <a:ext cx="1783080" cy="36576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0" y="2286000"/>
            <a:ext cx="2103120" cy="34747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View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30175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See NDVI charts,</a:t>
            </a:r>
            <a:br/>
            <a:r>
              <a:t>weather risk,</a:t>
            </a:r>
            <a:br/>
            <a:r>
              <a:t>yield prediction,</a:t>
            </a:r>
            <a:br/>
            <a:r>
              <a:t>risk score.</a:t>
            </a:r>
          </a:p>
        </p:txBody>
      </p:sp>
      <p:sp>
        <p:nvSpPr>
          <p:cNvPr id="19" name="Oval 18"/>
          <p:cNvSpPr/>
          <p:nvPr/>
        </p:nvSpPr>
        <p:spPr>
          <a:xfrm>
            <a:off x="8138160" y="137160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1645920"/>
            <a:ext cx="1783080" cy="36576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06640" y="2286000"/>
            <a:ext cx="2103120" cy="34747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File 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0175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ZK proof auto-</a:t>
            </a:r>
            <a:br/>
            <a:r>
              <a:t>generated. Claim</a:t>
            </a:r>
            <a:br/>
            <a:r>
              <a:t>submitted to</a:t>
            </a:r>
            <a:br/>
            <a:r>
              <a:t>ledger.</a:t>
            </a:r>
          </a:p>
        </p:txBody>
      </p:sp>
      <p:sp>
        <p:nvSpPr>
          <p:cNvPr id="24" name="Oval 23"/>
          <p:cNvSpPr/>
          <p:nvPr/>
        </p:nvSpPr>
        <p:spPr>
          <a:xfrm>
            <a:off x="10515600" y="1371600"/>
            <a:ext cx="640080" cy="64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2286000"/>
            <a:ext cx="2103120" cy="34747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Get Payout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30175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Insurer verifies</a:t>
            </a:r>
            <a:br/>
            <a:r>
              <a:t>ZK proof without</a:t>
            </a:r>
            <a:br/>
            <a:r>
              <a:t>seeing private</a:t>
            </a:r>
            <a:br/>
            <a:r>
              <a:t>farm data.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⚙️  7-Stage Analysis Pipeline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Real-time WebSocket streaming pipeline — each stage emits progress + visual artifacts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463040"/>
            <a:ext cx="2743200" cy="48463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109728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ROI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34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Parse farm polygon coordinates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Compute geodesic boundary &amp; area (ha)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14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Generate SHA-256 farm commitment hash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54879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Privacy: raw coordinates never leave vault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463040"/>
            <a:ext cx="2743200" cy="48463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20440" y="1645920"/>
            <a:ext cx="1097280" cy="3657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Stage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Satellite Ingestion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834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Fetch PlanetScope 3m + Sentinel-2 scenes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74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Time-series spanning sowing → 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114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12 cloud-filtered observations per farm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754879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Multi-spectral bands: B02-B12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463040"/>
            <a:ext cx="2743200" cy="48463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1645920"/>
            <a:ext cx="1097280" cy="36576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Stage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Cloud Masking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834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s2cloudless LightGBM pixel classifier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474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Pixel-level probability decision trees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114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96.2% clean pixels retained on average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754879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Masked scenes fed to index calculator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1463040"/>
            <a:ext cx="2743200" cy="48463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72600" y="1645920"/>
            <a:ext cx="1097280" cy="36576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Stage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Spectral Indices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834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NDVI = (B08−B04) / (B08+B04)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474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EVI, NDWI, NDMI computed per scene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4114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Temporal trajectory &amp; drop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4754879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Baseline vs current comparison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⚙️  7-Stage Analysis Pipeline (Part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3474720" cy="51206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" cy="36576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Stage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ML Risk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XGBoost yield predictor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08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Damage classifier (stress detection)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57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Open-Meteo weather risk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06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Composite risk formula: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5487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  Sat×0.30 + Weather×0.30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03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  + Yield×0.25 + History×0.15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1188720"/>
            <a:ext cx="3474720" cy="51206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1097280" cy="3657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Damage Vectorization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560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Marching Squares contour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108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GeoJSON boundary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3657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Affected area (hectares) calculated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206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Visual damage map with contours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188720"/>
            <a:ext cx="3474720" cy="512064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0" y="1371600"/>
            <a:ext cx="1097280" cy="36576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Stage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ZK Proof &amp; Ledger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2560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Circom 2.0 circuit compilation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108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Groth16 zk-SNARK proof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657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Eligibility: 1-bit public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4206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SHA-256 ledger block mined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75487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Immutable hash chain appended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🔐  Zero-Knowledge Proof — Deep Dive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5303520" cy="5029200"/>
          </a:xfrm>
          <a:prstGeom prst="roundRect">
            <a:avLst/>
          </a:prstGeom>
          <a:solidFill>
            <a:srgbClr val="1A243B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Circom Circuit: InsuranceEligibility()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Private Inputs (farmer's secrets):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 • ndvi_drop      — vegetation loss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420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 • rain_anomaly — rainfall deviation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5292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 • yield_loss      — predicted yield loss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6382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Public Output: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856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 • eligible ∈ {0, 1}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965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31520" y="44074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Constraint Logic: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1830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 eligible = (ndvi_drop &gt; 3000)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             ∧ (rain_anomaly &gt; 4000)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4009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             ∧ (yield_loss &gt; 2500)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509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31520" y="59618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Thresholds in basis points (÷100 = 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1188720"/>
            <a:ext cx="5760720" cy="5029200"/>
          </a:xfrm>
          <a:prstGeom prst="roundRect">
            <a:avLst/>
          </a:prstGeom>
          <a:solidFill>
            <a:srgbClr val="1A24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3716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How Zero-Knowledge Proofs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1️⃣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103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Compile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103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Circom → R1CS constraint system → WASM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880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2️⃣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880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Trusted Setup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2880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Powers-of-Tau ceremony → proving key + verification key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657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3️⃣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657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657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Farmer's private data + proving key → proof (π)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4️⃣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434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Verify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4434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Insurer checks proof (π) with verification 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2120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5️⃣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212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521207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Insurer learns ONLY: eligible = 0 or 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5486400"/>
            <a:ext cx="5394960" cy="54864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5532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🛡️  Insurer NEVER sees: farm location, NDVI values, yield 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📦  Tamper-Proof Claim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Immutable SHA-256 hash chain — every claim creates a verifiable block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566160" cy="4572000"/>
          </a:xfrm>
          <a:prstGeom prst="roundRect">
            <a:avLst/>
          </a:prstGeom>
          <a:solidFill>
            <a:srgbClr val="1A24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Block #0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block_index: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700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claim_id: CLM-4821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540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farmer_commitment: e3b0c4...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381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satellite_evidence_hash: a1b2c3...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2219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prediction_hash: f6e5d4...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zk_proof_hash: 8c7b6a...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902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eligible: 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743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previous_block_hash: d4f3e2...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5838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block_hash: 7a8b9c...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14800" y="3474720"/>
            <a:ext cx="365760" cy="32004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554480"/>
            <a:ext cx="3566160" cy="4572000"/>
          </a:xfrm>
          <a:prstGeom prst="roundRect">
            <a:avLst/>
          </a:prstGeom>
          <a:solidFill>
            <a:srgbClr val="1A24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Block #1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block_index: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6700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claim_id: CLM-4822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0540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farmer_commitment: e3b0c4...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4381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satellite_evidence_hash: a1b2c3...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82219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prediction_hash: f6e5d4...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206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zk_proof_hash: 8c7b6a...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5902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eligible: true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9743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previous_block_hash: d4f3e2...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35838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block_hash: 7a8b9c...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046720" y="3474720"/>
            <a:ext cx="365760" cy="32004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21040" y="1554480"/>
            <a:ext cx="3566160" cy="4572000"/>
          </a:xfrm>
          <a:prstGeom prst="roundRect">
            <a:avLst/>
          </a:prstGeom>
          <a:solidFill>
            <a:srgbClr val="1A24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  <a:latin typeface="Calibri"/>
              </a:defRPr>
            </a:pPr>
            <a:r>
              <a:t>Block #2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block_index: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26700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claim_id: CLM-4823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0540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farmer_commitment: e3b0c4...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4381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satellite_evidence_hash: a1b2c3...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382219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prediction_hash: f6e5d4...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206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zk_proof_hash: 8c7b6a...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45902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eligible: false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49743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previous_block_hash: d4f3e2...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535838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block_hash: 7a8b9c...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📁  Project Structure &amp; API Endpoints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5486400" cy="53035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Repository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agriproof-ai/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├── backend/                # FastAPI Python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│   ├── app/api/routes/     # Farm, Claim, Ledger APIs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│   ├── app/models/         # SQLAlchemy schemas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│   ├── app/services/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│   │   ├── satellite/      # Multi-spectral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│   │   ├── weather/        # Open-Meteo risk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│   │   ├── ml/             # XGBoost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│   │   ├── zk/             # ZK proof orchestrator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│   │   └── ledger/         # SHA-256 hash 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63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│   └── pipeline.py         # 7-stage orchestrator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37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├── frontend/               # Vite + React + Tailwind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1207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│   └── src/pages/          # 7 pages (Landing→Ledger)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86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├── circuits/               # Circom zk-SNARK circuits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607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├── models/                 # Serialized ML weights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350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└── data/                   # Demo farm scenarios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188720"/>
            <a:ext cx="5577840" cy="53035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3716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0116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/api/farms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Register a new farm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5059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4505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/api/farms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4505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List all farms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88950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8895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/api/farms/{id}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28895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Get farm details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328416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3284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/api/farms/{id}/analyze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33284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Run 7-stage pipeline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7673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37673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/api/farms/{id}/satellite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37673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Satellite view 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206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206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/api/claims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4206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Submit insurance claim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6451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4645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/api/claims/{id}/verify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4645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Verify ZK 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08406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50840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/api/ledger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50840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Get full ledger chain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5522976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Calibri"/>
              </a:defRPr>
            </a:pPr>
            <a:r>
              <a:t>WS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55229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/ws/analysis/{id}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8320" y="55229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Pipeline progress stream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9618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59618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/health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59618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Health check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🧪  Demo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Scenario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Crop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demo-farm-001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Patiala, Punjab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Wheat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Severe Drought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✅ ELIGIBLE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demo-farm-002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Thrissur, Kerala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Monsoon Flood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✅ ELIGIBLE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demo-farm-003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Nagpur, Maharashtra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Soybean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Normal 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4444"/>
                </a:solidFill>
                <a:latin typeface="Calibri"/>
              </a:defRPr>
            </a:pPr>
            <a:r>
              <a:t>❌ NOT ELIGIBLE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572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1"/>
                </a:solidFill>
                <a:latin typeface="Calibri"/>
              </a:defRPr>
            </a:pPr>
            <a:r>
              <a:t>"We don't just predict crop loss. We create verifiable, privacy-preserving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1"/>
                </a:solidFill>
                <a:latin typeface="Calibri"/>
              </a:defRPr>
            </a:pPr>
            <a:r>
              <a:t>insurance claims directly from satellite and meteorological intelligence."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760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🙏  Thank You — Questions?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